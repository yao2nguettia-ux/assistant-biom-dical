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2"/>
  </p:notesMasterIdLst>
  <p:sldIdLst>
    <p:sldId id="256" r:id="rId3"/>
    <p:sldId id="257" r:id="rId4"/>
    <p:sldId id="262" r:id="rId5"/>
    <p:sldId id="258" r:id="rId6"/>
    <p:sldId id="259" r:id="rId7"/>
    <p:sldId id="263" r:id="rId8"/>
    <p:sldId id="264" r:id="rId9"/>
    <p:sldId id="260" r:id="rId10"/>
    <p:sldId id="261" r:id="rId11"/>
  </p:sldIdLst>
  <p:sldSz cx="9144000" cy="5143500" type="screen16x9"/>
  <p:notesSz cx="6858000" cy="9144000"/>
  <p:embeddedFontLst>
    <p:embeddedFont>
      <p:font typeface="Oswald" panose="020F0502020204030204" pitchFamily="2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2" d="100"/>
          <a:sy n="102" d="100"/>
        </p:scale>
        <p:origin x="89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ba04b60f42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ba04b60f42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54111ca19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54111ca19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54111ca19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54111ca19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54111ca197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54111ca197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9b7d24c5f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9b7d24c5f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34a06501d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734a06501d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lt2"/>
                </a:solidFill>
              </a:defRPr>
            </a:lvl1pPr>
            <a:lvl2pPr lvl="1" algn="r" rtl="0">
              <a:buNone/>
              <a:defRPr sz="1000">
                <a:solidFill>
                  <a:schemeClr val="lt2"/>
                </a:solidFill>
              </a:defRPr>
            </a:lvl2pPr>
            <a:lvl3pPr lvl="2" algn="r" rtl="0">
              <a:buNone/>
              <a:defRPr sz="1000">
                <a:solidFill>
                  <a:schemeClr val="lt2"/>
                </a:solidFill>
              </a:defRPr>
            </a:lvl3pPr>
            <a:lvl4pPr lvl="3" algn="r" rtl="0">
              <a:buNone/>
              <a:defRPr sz="1000">
                <a:solidFill>
                  <a:schemeClr val="lt2"/>
                </a:solidFill>
              </a:defRPr>
            </a:lvl4pPr>
            <a:lvl5pPr lvl="4" algn="r" rtl="0">
              <a:buNone/>
              <a:defRPr sz="1000">
                <a:solidFill>
                  <a:schemeClr val="lt2"/>
                </a:solidFill>
              </a:defRPr>
            </a:lvl5pPr>
            <a:lvl6pPr lvl="5" algn="r" rtl="0">
              <a:buNone/>
              <a:defRPr sz="1000">
                <a:solidFill>
                  <a:schemeClr val="lt2"/>
                </a:solidFill>
              </a:defRPr>
            </a:lvl6pPr>
            <a:lvl7pPr lvl="6" algn="r" rtl="0">
              <a:buNone/>
              <a:defRPr sz="1000">
                <a:solidFill>
                  <a:schemeClr val="lt2"/>
                </a:solidFill>
              </a:defRPr>
            </a:lvl7pPr>
            <a:lvl8pPr lvl="7" algn="r" rtl="0">
              <a:buNone/>
              <a:defRPr sz="1000">
                <a:solidFill>
                  <a:schemeClr val="lt2"/>
                </a:solidFill>
              </a:defRPr>
            </a:lvl8pPr>
            <a:lvl9pPr lvl="8" algn="r" rtl="0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/>
          <p:nvPr/>
        </p:nvSpPr>
        <p:spPr>
          <a:xfrm>
            <a:off x="0" y="2496725"/>
            <a:ext cx="9144000" cy="26469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1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5"/>
          <p:cNvSpPr txBox="1"/>
          <p:nvPr/>
        </p:nvSpPr>
        <p:spPr>
          <a:xfrm>
            <a:off x="4034750" y="1546400"/>
            <a:ext cx="10113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101" name="Google Shape;101;p25"/>
          <p:cNvSpPr txBox="1"/>
          <p:nvPr/>
        </p:nvSpPr>
        <p:spPr>
          <a:xfrm>
            <a:off x="2532425" y="1342425"/>
            <a:ext cx="18567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5"/>
          <p:cNvSpPr txBox="1"/>
          <p:nvPr/>
        </p:nvSpPr>
        <p:spPr>
          <a:xfrm>
            <a:off x="2078975" y="2103800"/>
            <a:ext cx="40989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5"/>
          <p:cNvSpPr txBox="1"/>
          <p:nvPr/>
        </p:nvSpPr>
        <p:spPr>
          <a:xfrm>
            <a:off x="549388" y="760613"/>
            <a:ext cx="7679473" cy="1811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rPr>
              <a:t>Véra</a:t>
            </a:r>
            <a:endParaRPr sz="4000" b="1">
              <a:solidFill>
                <a:schemeClr val="accent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Assistante de lecture biomédicale calibrée</a:t>
            </a:r>
            <a:endParaRPr sz="17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ctr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2"/>
                </a:solidFill>
                <a:latin typeface="Oswald"/>
                <a:ea typeface="Oswald"/>
                <a:cs typeface="Oswald"/>
                <a:sym typeface="Oswald"/>
              </a:rPr>
              <a:t>N'Guettia Yao Ezeckiel</a:t>
            </a:r>
            <a:endParaRPr sz="1400">
              <a:solidFill>
                <a:schemeClr val="lt2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5" name="TagPill"/>
          <p:cNvSpPr/>
          <p:nvPr/>
        </p:nvSpPr>
        <p:spPr>
          <a:xfrm>
            <a:off x="3072000" y="130000"/>
            <a:ext cx="3000000" cy="300000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1"/>
            </a:solidFill>
          </a:ln>
        </p:spPr>
        <p:txBody>
          <a:bodyPr spcFirstLastPara="1" wrap="square" lIns="45700" tIns="0" rIns="4570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dirty="0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rPr>
              <a:t>PROJET DE FIN DE FORMATION</a:t>
            </a:r>
            <a:endParaRPr sz="1000" b="1" dirty="0"/>
          </a:p>
        </p:txBody>
      </p:sp>
      <p:pic>
        <p:nvPicPr>
          <p:cNvPr id="104" name="Google Shape;104;p25" title="final project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3413" y="2661188"/>
            <a:ext cx="2313975" cy="231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>
            <a:spLocks noGrp="1"/>
          </p:cNvSpPr>
          <p:nvPr>
            <p:ph type="title"/>
          </p:nvPr>
        </p:nvSpPr>
        <p:spPr>
          <a:xfrm>
            <a:off x="311700" y="2971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Véra</a:t>
            </a:r>
            <a:endParaRPr/>
          </a:p>
        </p:txBody>
      </p:sp>
      <p:sp>
        <p:nvSpPr>
          <p:cNvPr id="500" name="Block500"/>
          <p:cNvSpPr/>
          <p:nvPr/>
        </p:nvSpPr>
        <p:spPr>
          <a:xfrm>
            <a:off x="311700" y="1152475"/>
            <a:ext cx="8520600" cy="950000"/>
          </a:xfrm>
          <a:prstGeom prst="roundRect">
            <a:avLst>
              <a:gd name="adj" fmla="val 5000"/>
            </a:avLst>
          </a:prstGeom>
          <a:solidFill>
            <a:schemeClr val="dk2"/>
          </a:solidFill>
          <a:ln w="9525">
            <a:solidFill>
              <a:schemeClr val="accent4">
                <a:alpha val="55000"/>
              </a:schemeClr>
            </a:solidFill>
          </a:ln>
        </p:spPr>
        <p:txBody>
          <a:bodyPr spcFirstLastPara="1" wrap="square" lIns="0" tIns="20000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 </a:t>
            </a:r>
          </a:p>
        </p:txBody>
      </p:sp>
      <p:sp>
        <p:nvSpPr>
          <p:cNvPr id="501" name="Icon500"/>
          <p:cNvSpPr/>
          <p:nvPr/>
        </p:nvSpPr>
        <p:spPr>
          <a:xfrm>
            <a:off x="511700" y="1352475"/>
            <a:ext cx="560000" cy="560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</a:rPr>
              <a:t>!</a:t>
            </a:r>
            <a:endParaRPr sz="1800" b="1"/>
          </a:p>
        </p:txBody>
      </p:sp>
      <p:sp>
        <p:nvSpPr>
          <p:cNvPr id="502" name="Text500"/>
          <p:cNvSpPr txBox="1"/>
          <p:nvPr/>
        </p:nvSpPr>
        <p:spPr>
          <a:xfrm>
            <a:off x="1271700" y="1332475"/>
            <a:ext cx="73106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50"/>
              </a:spcAft>
              <a:buNone/>
            </a:pPr>
            <a:r>
              <a:rPr lang="en" sz="1400" b="1" dirty="0">
                <a:solidFill>
                  <a:schemeClr val="dk1"/>
                </a:solidFill>
              </a:rPr>
              <a:t>Le constat</a:t>
            </a:r>
            <a:endParaRPr sz="14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2"/>
                </a:solidFill>
              </a:rPr>
              <a:t>Un chercheur ne peut pas tout lire dans une littérature biomédicale en constante évolution : il doit vérifier rapidement si un texte confirme ou infirme une affirmation sans sacrifier la preuve au profit de la vitesse.</a:t>
            </a:r>
            <a:endParaRPr sz="1200" dirty="0"/>
          </a:p>
        </p:txBody>
      </p:sp>
      <p:sp>
        <p:nvSpPr>
          <p:cNvPr id="510" name="Block510"/>
          <p:cNvSpPr/>
          <p:nvPr/>
        </p:nvSpPr>
        <p:spPr>
          <a:xfrm>
            <a:off x="311700" y="2252475"/>
            <a:ext cx="8520600" cy="1400000"/>
          </a:xfrm>
          <a:prstGeom prst="roundRect">
            <a:avLst>
              <a:gd name="adj" fmla="val 5000"/>
            </a:avLst>
          </a:prstGeom>
          <a:solidFill>
            <a:schemeClr val="dk2"/>
          </a:solidFill>
          <a:ln w="9525">
            <a:solidFill>
              <a:schemeClr val="accent1">
                <a:alpha val="55000"/>
              </a:schemeClr>
            </a:solidFill>
          </a:ln>
        </p:spPr>
        <p:txBody>
          <a:bodyPr spcFirstLastPara="1" wrap="square" lIns="0" tIns="20000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 </a:t>
            </a:r>
          </a:p>
        </p:txBody>
      </p:sp>
      <p:sp>
        <p:nvSpPr>
          <p:cNvPr id="511" name="Icon510"/>
          <p:cNvSpPr/>
          <p:nvPr/>
        </p:nvSpPr>
        <p:spPr>
          <a:xfrm>
            <a:off x="511700" y="2452475"/>
            <a:ext cx="560000" cy="56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</a:rPr>
              <a:t>V</a:t>
            </a:r>
            <a:endParaRPr sz="1800" b="1"/>
          </a:p>
        </p:txBody>
      </p:sp>
      <p:sp>
        <p:nvSpPr>
          <p:cNvPr id="512" name="Text510"/>
          <p:cNvSpPr txBox="1"/>
          <p:nvPr/>
        </p:nvSpPr>
        <p:spPr>
          <a:xfrm>
            <a:off x="1271700" y="2432475"/>
            <a:ext cx="7310600" cy="10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50"/>
              </a:spcAft>
              <a:buNone/>
            </a:pPr>
            <a:r>
              <a:rPr lang="en" sz="1400" b="1">
                <a:solidFill>
                  <a:schemeClr val="dk1"/>
                </a:solidFill>
              </a:rPr>
              <a:t>La solution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</a:rPr>
              <a:t>Véra répond à une question biomédicale par un verdict, toujours accompagné de la phrase exacte qui le justifie, d'un niveau de confiance calibré et d'une explication en langage naturel :</a:t>
            </a:r>
            <a:endParaRPr sz="1200"/>
          </a:p>
        </p:txBody>
      </p:sp>
      <p:sp>
        <p:nvSpPr>
          <p:cNvPr id="520" name="Pill520"/>
          <p:cNvSpPr/>
          <p:nvPr/>
        </p:nvSpPr>
        <p:spPr>
          <a:xfrm>
            <a:off x="1271700" y="3232475"/>
            <a:ext cx="1100000" cy="34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lt1"/>
                </a:solidFill>
              </a:rPr>
              <a:t>OUI</a:t>
            </a:r>
            <a:endParaRPr sz="1000" b="1"/>
          </a:p>
        </p:txBody>
      </p:sp>
      <p:sp>
        <p:nvSpPr>
          <p:cNvPr id="521" name="Pill521"/>
          <p:cNvSpPr/>
          <p:nvPr/>
        </p:nvSpPr>
        <p:spPr>
          <a:xfrm>
            <a:off x="2521700" y="3232475"/>
            <a:ext cx="1100000" cy="3400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lt1"/>
                </a:solidFill>
              </a:rPr>
              <a:t>NON</a:t>
            </a:r>
            <a:endParaRPr sz="1000" b="1"/>
          </a:p>
        </p:txBody>
      </p:sp>
      <p:sp>
        <p:nvSpPr>
          <p:cNvPr id="522" name="Pill522"/>
          <p:cNvSpPr/>
          <p:nvPr/>
        </p:nvSpPr>
        <p:spPr>
          <a:xfrm>
            <a:off x="3771700" y="3232475"/>
            <a:ext cx="1300000" cy="3400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lt1"/>
                </a:solidFill>
              </a:rPr>
              <a:t>PEUT-ÊTRE</a:t>
            </a:r>
            <a:endParaRPr sz="1000" b="1"/>
          </a:p>
        </p:txBody>
      </p:sp>
      <p:sp>
        <p:nvSpPr>
          <p:cNvPr id="530" name="Block530"/>
          <p:cNvSpPr/>
          <p:nvPr/>
        </p:nvSpPr>
        <p:spPr>
          <a:xfrm>
            <a:off x="311700" y="3802475"/>
            <a:ext cx="8520600" cy="950000"/>
          </a:xfrm>
          <a:prstGeom prst="roundRect">
            <a:avLst>
              <a:gd name="adj" fmla="val 5000"/>
            </a:avLst>
          </a:prstGeom>
          <a:solidFill>
            <a:schemeClr val="dk2"/>
          </a:solidFill>
          <a:ln w="9525">
            <a:solidFill>
              <a:schemeClr val="accent3">
                <a:alpha val="55000"/>
              </a:schemeClr>
            </a:solidFill>
          </a:ln>
        </p:spPr>
        <p:txBody>
          <a:bodyPr spcFirstLastPara="1" wrap="square" lIns="0" tIns="20000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 </a:t>
            </a:r>
          </a:p>
        </p:txBody>
      </p:sp>
      <p:sp>
        <p:nvSpPr>
          <p:cNvPr id="531" name="Icon530"/>
          <p:cNvSpPr/>
          <p:nvPr/>
        </p:nvSpPr>
        <p:spPr>
          <a:xfrm>
            <a:off x="511700" y="4002475"/>
            <a:ext cx="560000" cy="56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lt1"/>
                </a:solidFill>
              </a:rPr>
              <a:t>i</a:t>
            </a:r>
            <a:endParaRPr sz="1800" b="1"/>
          </a:p>
        </p:txBody>
      </p:sp>
      <p:sp>
        <p:nvSpPr>
          <p:cNvPr id="532" name="Text530"/>
          <p:cNvSpPr txBox="1"/>
          <p:nvPr/>
        </p:nvSpPr>
        <p:spPr>
          <a:xfrm>
            <a:off x="1271700" y="3982475"/>
            <a:ext cx="73106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50"/>
              </a:spcAft>
              <a:buNone/>
            </a:pPr>
            <a:r>
              <a:rPr lang="en" sz="1400" b="1" dirty="0">
                <a:solidFill>
                  <a:schemeClr val="dk1"/>
                </a:solidFill>
              </a:rPr>
              <a:t>Le périmètre</a:t>
            </a:r>
            <a:endParaRPr sz="14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2"/>
                </a:solidFill>
              </a:rPr>
              <a:t>Outil d'aide à la lecture pour les professionnels de la recherche biomédicale, Véra ne fournit ni conseil médical ni diagnostic, et n'est pas destinée à un usage patient direct.</a:t>
            </a:r>
            <a:endParaRPr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8"/>
          <p:cNvSpPr txBox="1">
            <a:spLocks noGrp="1"/>
          </p:cNvSpPr>
          <p:nvPr>
            <p:ph type="title"/>
          </p:nvPr>
        </p:nvSpPr>
        <p:spPr>
          <a:xfrm>
            <a:off x="311700" y="2971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</a:t>
            </a:r>
            <a:endParaRPr/>
          </a:p>
        </p:txBody>
      </p:sp>
      <p:sp>
        <p:nvSpPr>
          <p:cNvPr id="200" name="Card200"/>
          <p:cNvSpPr/>
          <p:nvPr/>
        </p:nvSpPr>
        <p:spPr>
          <a:xfrm>
            <a:off x="311700" y="1250000"/>
            <a:ext cx="1496000" cy="1000000"/>
          </a:xfrm>
          <a:prstGeom prst="roundRect">
            <a:avLst>
              <a:gd name="adj" fmla="val 8000"/>
            </a:avLst>
          </a:prstGeom>
          <a:solidFill>
            <a:schemeClr val="dk2"/>
          </a:solidFill>
          <a:ln w="12700">
            <a:solidFill>
              <a:schemeClr val="accent1"/>
            </a:solidFill>
          </a:ln>
          <a:effectLst>
            <a:outerShdw blurRad="40000" dist="20000" dir="5400000" algn="tl" rotWithShape="0">
              <a:srgbClr val="000000">
                <a:alpha val="35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PubMedQA</a:t>
            </a:r>
            <a:endParaRPr sz="130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chemeClr val="lt2"/>
                </a:solidFill>
              </a:rPr>
              <a:t>Question + contexte</a:t>
            </a:r>
            <a:endParaRPr sz="950"/>
          </a:p>
        </p:txBody>
      </p:sp>
      <p:sp>
        <p:nvSpPr>
          <p:cNvPr id="201" name="Arrow201"/>
          <p:cNvSpPr txBox="1"/>
          <p:nvPr/>
        </p:nvSpPr>
        <p:spPr>
          <a:xfrm>
            <a:off x="1807700" y="1250000"/>
            <a:ext cx="260000" cy="1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accent1"/>
                </a:solidFill>
              </a:rPr>
              <a:t>→</a:t>
            </a:r>
            <a:endParaRPr sz="1800"/>
          </a:p>
        </p:txBody>
      </p:sp>
      <p:sp>
        <p:nvSpPr>
          <p:cNvPr id="202" name="Card202"/>
          <p:cNvSpPr/>
          <p:nvPr/>
        </p:nvSpPr>
        <p:spPr>
          <a:xfrm>
            <a:off x="2067700" y="1250000"/>
            <a:ext cx="1496000" cy="1000000"/>
          </a:xfrm>
          <a:prstGeom prst="roundRect">
            <a:avLst>
              <a:gd name="adj" fmla="val 8000"/>
            </a:avLst>
          </a:prstGeom>
          <a:solidFill>
            <a:schemeClr val="dk2"/>
          </a:solidFill>
          <a:ln w="12700">
            <a:solidFill>
              <a:schemeClr val="accent1"/>
            </a:solidFill>
          </a:ln>
          <a:effectLst>
            <a:outerShdw blurRad="40000" dist="20000" dir="5400000" algn="tl" rotWithShape="0">
              <a:srgbClr val="000000">
                <a:alpha val="35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BERT + LoRA</a:t>
            </a:r>
            <a:endParaRPr sz="130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chemeClr val="lt2"/>
                </a:solidFill>
              </a:rPr>
              <a:t>Verdict brut (yes/no/maybe)</a:t>
            </a:r>
            <a:endParaRPr sz="950"/>
          </a:p>
        </p:txBody>
      </p:sp>
      <p:sp>
        <p:nvSpPr>
          <p:cNvPr id="203" name="Arrow203"/>
          <p:cNvSpPr txBox="1"/>
          <p:nvPr/>
        </p:nvSpPr>
        <p:spPr>
          <a:xfrm>
            <a:off x="3563700" y="1250000"/>
            <a:ext cx="260000" cy="1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accent1"/>
                </a:solidFill>
              </a:rPr>
              <a:t>→</a:t>
            </a:r>
            <a:endParaRPr sz="1800"/>
          </a:p>
        </p:txBody>
      </p:sp>
      <p:sp>
        <p:nvSpPr>
          <p:cNvPr id="204" name="Card204"/>
          <p:cNvSpPr/>
          <p:nvPr/>
        </p:nvSpPr>
        <p:spPr>
          <a:xfrm>
            <a:off x="3823700" y="1250000"/>
            <a:ext cx="1496000" cy="1000000"/>
          </a:xfrm>
          <a:prstGeom prst="roundRect">
            <a:avLst>
              <a:gd name="adj" fmla="val 8000"/>
            </a:avLst>
          </a:prstGeom>
          <a:solidFill>
            <a:schemeClr val="dk2"/>
          </a:solidFill>
          <a:ln w="12700">
            <a:solidFill>
              <a:schemeClr val="accent1"/>
            </a:solidFill>
          </a:ln>
          <a:effectLst>
            <a:outerShdw blurRad="40000" dist="20000" dir="5400000" algn="tl" rotWithShape="0">
              <a:srgbClr val="000000">
                <a:alpha val="35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Calibration</a:t>
            </a:r>
            <a:endParaRPr sz="130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chemeClr val="lt2"/>
                </a:solidFill>
              </a:rPr>
              <a:t>Score de confiance</a:t>
            </a:r>
            <a:endParaRPr sz="950"/>
          </a:p>
        </p:txBody>
      </p:sp>
      <p:sp>
        <p:nvSpPr>
          <p:cNvPr id="205" name="Arrow205"/>
          <p:cNvSpPr txBox="1"/>
          <p:nvPr/>
        </p:nvSpPr>
        <p:spPr>
          <a:xfrm>
            <a:off x="5319700" y="1250000"/>
            <a:ext cx="260000" cy="1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accent1"/>
                </a:solidFill>
              </a:rPr>
              <a:t>→</a:t>
            </a:r>
            <a:endParaRPr sz="1800"/>
          </a:p>
        </p:txBody>
      </p:sp>
      <p:sp>
        <p:nvSpPr>
          <p:cNvPr id="206" name="Card206"/>
          <p:cNvSpPr/>
          <p:nvPr/>
        </p:nvSpPr>
        <p:spPr>
          <a:xfrm>
            <a:off x="5579700" y="1250000"/>
            <a:ext cx="1496000" cy="1000000"/>
          </a:xfrm>
          <a:prstGeom prst="roundRect">
            <a:avLst>
              <a:gd name="adj" fmla="val 8000"/>
            </a:avLst>
          </a:prstGeom>
          <a:solidFill>
            <a:schemeClr val="dk2"/>
          </a:solidFill>
          <a:ln w="12700">
            <a:solidFill>
              <a:schemeClr val="accent1"/>
            </a:solidFill>
          </a:ln>
          <a:effectLst>
            <a:outerShdw blurRad="40000" dist="20000" dir="5400000" algn="tl" rotWithShape="0">
              <a:srgbClr val="000000">
                <a:alpha val="35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FAISS</a:t>
            </a:r>
            <a:endParaRPr sz="130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chemeClr val="lt2"/>
                </a:solidFill>
              </a:rPr>
              <a:t>Preuve citée</a:t>
            </a:r>
            <a:endParaRPr sz="950"/>
          </a:p>
        </p:txBody>
      </p:sp>
      <p:sp>
        <p:nvSpPr>
          <p:cNvPr id="207" name="Arrow207"/>
          <p:cNvSpPr txBox="1"/>
          <p:nvPr/>
        </p:nvSpPr>
        <p:spPr>
          <a:xfrm>
            <a:off x="7075700" y="1250000"/>
            <a:ext cx="260000" cy="1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accent1"/>
                </a:solidFill>
              </a:rPr>
              <a:t>→</a:t>
            </a:r>
            <a:endParaRPr sz="1800"/>
          </a:p>
        </p:txBody>
      </p:sp>
      <p:sp>
        <p:nvSpPr>
          <p:cNvPr id="208" name="Card208"/>
          <p:cNvSpPr/>
          <p:nvPr/>
        </p:nvSpPr>
        <p:spPr>
          <a:xfrm>
            <a:off x="7335700" y="1250000"/>
            <a:ext cx="1496000" cy="1000000"/>
          </a:xfrm>
          <a:prstGeom prst="roundRect">
            <a:avLst>
              <a:gd name="adj" fmla="val 8000"/>
            </a:avLst>
          </a:prstGeom>
          <a:solidFill>
            <a:schemeClr val="dk2"/>
          </a:solidFill>
          <a:ln w="12700">
            <a:solidFill>
              <a:schemeClr val="accent1"/>
            </a:solidFill>
          </a:ln>
          <a:effectLst>
            <a:outerShdw blurRad="40000" dist="20000" dir="5400000" algn="tl" rotWithShape="0">
              <a:srgbClr val="000000">
                <a:alpha val="35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Qwen2.5</a:t>
            </a:r>
            <a:endParaRPr sz="130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chemeClr val="lt2"/>
                </a:solidFill>
              </a:rPr>
              <a:t>Explication en langage naturel</a:t>
            </a:r>
            <a:endParaRPr sz="950"/>
          </a:p>
        </p:txBody>
      </p:sp>
      <p:sp>
        <p:nvSpPr>
          <p:cNvPr id="220" name="DownArrow"/>
          <p:cNvSpPr txBox="1"/>
          <p:nvPr/>
        </p:nvSpPr>
        <p:spPr>
          <a:xfrm>
            <a:off x="311700" y="2260000"/>
            <a:ext cx="85206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accent1"/>
                </a:solidFill>
              </a:rPr>
              <a:t>↓</a:t>
            </a:r>
            <a:endParaRPr sz="1800"/>
          </a:p>
        </p:txBody>
      </p:sp>
      <p:sp>
        <p:nvSpPr>
          <p:cNvPr id="221" name="InterfaceCard"/>
          <p:cNvSpPr/>
          <p:nvPr/>
        </p:nvSpPr>
        <p:spPr>
          <a:xfrm>
            <a:off x="311700" y="2610000"/>
            <a:ext cx="8520600" cy="90000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>
            <a:noFill/>
          </a:ln>
          <a:effectLst>
            <a:outerShdw blurRad="40000" dist="20000" dir="5400000" algn="tl" rotWithShape="0">
              <a:srgbClr val="000000">
                <a:alpha val="35000"/>
              </a:srgbClr>
            </a:outerShdw>
          </a:effectLst>
        </p:spPr>
        <p:txBody>
          <a:bodyPr spcFirstLastPara="1" wrap="square" lIns="182880" tIns="45700" rIns="182880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600" b="1">
                <a:solidFill>
                  <a:schemeClr val="lt1"/>
                </a:solidFill>
              </a:rPr>
              <a:t>API Flask + Interface web (vera.html)</a:t>
            </a:r>
            <a:endParaRPr sz="160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lt1"/>
                </a:solidFill>
              </a:rPr>
              <a:t>5 vues : Analyser · Comparer · Lot CSV · Historique · À propos</a:t>
            </a:r>
            <a:endParaRPr sz="1150"/>
          </a:p>
        </p:txBody>
      </p:sp>
      <p:sp>
        <p:nvSpPr>
          <p:cNvPr id="222" name="Caption"/>
          <p:cNvSpPr txBox="1"/>
          <p:nvPr/>
        </p:nvSpPr>
        <p:spPr>
          <a:xfrm>
            <a:off x="311700" y="3660000"/>
            <a:ext cx="8520600" cy="7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 dirty="0">
                <a:solidFill>
                  <a:schemeClr val="lt2"/>
                </a:solidFill>
              </a:rPr>
              <a:t>Ce n'est pas un RAG à grande échelle : le contexte est toujours fourni par PubMedQA, FAISS cible la preuve à l'intérieur de ce contexte, il ne cherche pas dans une base externe de documents.</a:t>
            </a:r>
            <a:endParaRPr sz="1200" i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7"/>
          <p:cNvSpPr txBox="1">
            <a:spLocks noGrp="1"/>
          </p:cNvSpPr>
          <p:nvPr>
            <p:ph type="title"/>
          </p:nvPr>
        </p:nvSpPr>
        <p:spPr>
          <a:xfrm>
            <a:off x="311700" y="2971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</a:t>
            </a:r>
            <a:endParaRPr/>
          </a:p>
        </p:txBody>
      </p:sp>
      <p:sp>
        <p:nvSpPr>
          <p:cNvPr id="400" name="Row400"/>
          <p:cNvSpPr/>
          <p:nvPr/>
        </p:nvSpPr>
        <p:spPr>
          <a:xfrm>
            <a:off x="311700" y="1152475"/>
            <a:ext cx="8520600" cy="541000"/>
          </a:xfrm>
          <a:prstGeom prst="roundRect">
            <a:avLst>
              <a:gd name="adj" fmla="val 8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non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Tag401"/>
          <p:cNvSpPr/>
          <p:nvPr/>
        </p:nvSpPr>
        <p:spPr>
          <a:xfrm>
            <a:off x="431700" y="1252975"/>
            <a:ext cx="1600000" cy="34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lt1"/>
                </a:solidFill>
              </a:rPr>
              <a:t>CLASSIFICATION</a:t>
            </a:r>
            <a:endParaRPr sz="900" b="1"/>
          </a:p>
        </p:txBody>
      </p:sp>
      <p:sp>
        <p:nvSpPr>
          <p:cNvPr id="402" name="Content402"/>
          <p:cNvSpPr txBox="1"/>
          <p:nvPr/>
        </p:nvSpPr>
        <p:spPr>
          <a:xfrm>
            <a:off x="2211700" y="1152475"/>
            <a:ext cx="6620600" cy="5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50"/>
              </a:spcAft>
              <a:buNone/>
            </a:pPr>
            <a:r>
              <a:rPr lang="en" sz="1200" b="1" dirty="0">
                <a:solidFill>
                  <a:schemeClr val="dk1"/>
                </a:solidFill>
              </a:rPr>
              <a:t>PubMedBERT-base + LoRA (r=8, α=16)</a:t>
            </a:r>
            <a:endParaRPr sz="12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lt2"/>
                </a:solidFill>
              </a:rPr>
              <a:t>Décide du verdict yes / no / maybe</a:t>
            </a:r>
            <a:endParaRPr sz="1000" dirty="0"/>
          </a:p>
        </p:txBody>
      </p:sp>
      <p:sp>
        <p:nvSpPr>
          <p:cNvPr id="403" name="Row403"/>
          <p:cNvSpPr/>
          <p:nvPr/>
        </p:nvSpPr>
        <p:spPr>
          <a:xfrm>
            <a:off x="311700" y="1783475"/>
            <a:ext cx="8520600" cy="541000"/>
          </a:xfrm>
          <a:prstGeom prst="roundRect">
            <a:avLst>
              <a:gd name="adj" fmla="val 8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non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Tag404"/>
          <p:cNvSpPr/>
          <p:nvPr/>
        </p:nvSpPr>
        <p:spPr>
          <a:xfrm>
            <a:off x="431700" y="1883975"/>
            <a:ext cx="1600000" cy="3400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lt1"/>
                </a:solidFill>
              </a:rPr>
              <a:t>RETRIEVAL</a:t>
            </a:r>
            <a:endParaRPr sz="900" b="1"/>
          </a:p>
        </p:txBody>
      </p:sp>
      <p:sp>
        <p:nvSpPr>
          <p:cNvPr id="405" name="Content405"/>
          <p:cNvSpPr txBox="1"/>
          <p:nvPr/>
        </p:nvSpPr>
        <p:spPr>
          <a:xfrm>
            <a:off x="2211700" y="1783475"/>
            <a:ext cx="6620600" cy="5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50"/>
              </a:spcAft>
              <a:buNone/>
            </a:pPr>
            <a:r>
              <a:rPr lang="en" sz="1200" b="1" dirty="0">
                <a:solidFill>
                  <a:schemeClr val="dk1"/>
                </a:solidFill>
              </a:rPr>
              <a:t>MiniLM-L6-v2 + FAISS</a:t>
            </a:r>
            <a:endParaRPr sz="12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lt2"/>
                </a:solidFill>
              </a:rPr>
              <a:t>Cite la preuve, détecte le hors périmètre</a:t>
            </a:r>
            <a:endParaRPr sz="1000" dirty="0"/>
          </a:p>
        </p:txBody>
      </p:sp>
      <p:sp>
        <p:nvSpPr>
          <p:cNvPr id="406" name="Row406"/>
          <p:cNvSpPr/>
          <p:nvPr/>
        </p:nvSpPr>
        <p:spPr>
          <a:xfrm>
            <a:off x="311700" y="2414475"/>
            <a:ext cx="8520600" cy="541000"/>
          </a:xfrm>
          <a:prstGeom prst="roundRect">
            <a:avLst>
              <a:gd name="adj" fmla="val 8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non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Tag407"/>
          <p:cNvSpPr/>
          <p:nvPr/>
        </p:nvSpPr>
        <p:spPr>
          <a:xfrm>
            <a:off x="431700" y="2514975"/>
            <a:ext cx="1600000" cy="3400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lt1"/>
                </a:solidFill>
              </a:rPr>
              <a:t>GÉNÉRATION</a:t>
            </a:r>
            <a:endParaRPr sz="900" b="1"/>
          </a:p>
        </p:txBody>
      </p:sp>
      <p:sp>
        <p:nvSpPr>
          <p:cNvPr id="408" name="Content408"/>
          <p:cNvSpPr txBox="1"/>
          <p:nvPr/>
        </p:nvSpPr>
        <p:spPr>
          <a:xfrm>
            <a:off x="2211700" y="2414475"/>
            <a:ext cx="6620600" cy="5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50"/>
              </a:spcAft>
              <a:buNone/>
            </a:pPr>
            <a:r>
              <a:rPr lang="en" sz="1200" b="1" dirty="0">
                <a:solidFill>
                  <a:schemeClr val="dk1"/>
                </a:solidFill>
              </a:rPr>
              <a:t>Qwen2.5-1.5B-Instruct</a:t>
            </a:r>
            <a:endParaRPr sz="12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lt2"/>
                </a:solidFill>
              </a:rPr>
              <a:t>Explication en langage naturel, zero-shot</a:t>
            </a:r>
            <a:endParaRPr sz="1000" dirty="0"/>
          </a:p>
        </p:txBody>
      </p:sp>
      <p:sp>
        <p:nvSpPr>
          <p:cNvPr id="409" name="Row409"/>
          <p:cNvSpPr/>
          <p:nvPr/>
        </p:nvSpPr>
        <p:spPr>
          <a:xfrm>
            <a:off x="311700" y="3045475"/>
            <a:ext cx="8520600" cy="541000"/>
          </a:xfrm>
          <a:prstGeom prst="roundRect">
            <a:avLst>
              <a:gd name="adj" fmla="val 8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non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Tag410"/>
          <p:cNvSpPr/>
          <p:nvPr/>
        </p:nvSpPr>
        <p:spPr>
          <a:xfrm>
            <a:off x="431700" y="3145975"/>
            <a:ext cx="1600000" cy="3400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lt1"/>
                </a:solidFill>
              </a:rPr>
              <a:t>CALIBRATION</a:t>
            </a:r>
            <a:endParaRPr sz="900" b="1"/>
          </a:p>
        </p:txBody>
      </p:sp>
      <p:sp>
        <p:nvSpPr>
          <p:cNvPr id="411" name="Content411"/>
          <p:cNvSpPr txBox="1"/>
          <p:nvPr/>
        </p:nvSpPr>
        <p:spPr>
          <a:xfrm>
            <a:off x="2211700" y="3045475"/>
            <a:ext cx="6620600" cy="5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50"/>
              </a:spcAft>
              <a:buNone/>
            </a:pPr>
            <a:r>
              <a:rPr lang="en" sz="1200" b="1" dirty="0">
                <a:solidFill>
                  <a:schemeClr val="dk1"/>
                </a:solidFill>
              </a:rPr>
              <a:t>Température scaling + ECE</a:t>
            </a:r>
            <a:endParaRPr sz="12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lt2"/>
                </a:solidFill>
              </a:rPr>
              <a:t>Score de confiance fiable</a:t>
            </a:r>
            <a:endParaRPr sz="1000" dirty="0"/>
          </a:p>
        </p:txBody>
      </p:sp>
      <p:sp>
        <p:nvSpPr>
          <p:cNvPr id="412" name="Row412"/>
          <p:cNvSpPr/>
          <p:nvPr/>
        </p:nvSpPr>
        <p:spPr>
          <a:xfrm>
            <a:off x="311700" y="3676475"/>
            <a:ext cx="8520600" cy="541000"/>
          </a:xfrm>
          <a:prstGeom prst="roundRect">
            <a:avLst>
              <a:gd name="adj" fmla="val 8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non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Tag413"/>
          <p:cNvSpPr/>
          <p:nvPr/>
        </p:nvSpPr>
        <p:spPr>
          <a:xfrm>
            <a:off x="431700" y="3776975"/>
            <a:ext cx="1600000" cy="3400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lt1"/>
                </a:solidFill>
              </a:rPr>
              <a:t>BACKEND</a:t>
            </a:r>
            <a:endParaRPr sz="900" b="1"/>
          </a:p>
        </p:txBody>
      </p:sp>
      <p:sp>
        <p:nvSpPr>
          <p:cNvPr id="414" name="Content414"/>
          <p:cNvSpPr txBox="1"/>
          <p:nvPr/>
        </p:nvSpPr>
        <p:spPr>
          <a:xfrm>
            <a:off x="2211700" y="3676475"/>
            <a:ext cx="6620600" cy="5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50"/>
              </a:spcAft>
              <a:buNone/>
            </a:pPr>
            <a:r>
              <a:rPr lang="en" sz="1200" b="1" dirty="0">
                <a:solidFill>
                  <a:schemeClr val="dk1"/>
                </a:solidFill>
              </a:rPr>
              <a:t>Flask (app.py) + HTML/CSS/JS</a:t>
            </a:r>
            <a:endParaRPr sz="12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lt2"/>
                </a:solidFill>
              </a:rPr>
              <a:t>API et interface vera.html</a:t>
            </a:r>
            <a:endParaRPr sz="1000" dirty="0"/>
          </a:p>
        </p:txBody>
      </p:sp>
      <p:sp>
        <p:nvSpPr>
          <p:cNvPr id="415" name="Row415"/>
          <p:cNvSpPr/>
          <p:nvPr/>
        </p:nvSpPr>
        <p:spPr>
          <a:xfrm>
            <a:off x="311700" y="4307475"/>
            <a:ext cx="8520600" cy="541000"/>
          </a:xfrm>
          <a:prstGeom prst="roundRect">
            <a:avLst>
              <a:gd name="adj" fmla="val 8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non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Tag416"/>
          <p:cNvSpPr/>
          <p:nvPr/>
        </p:nvSpPr>
        <p:spPr>
          <a:xfrm>
            <a:off x="431700" y="4407975"/>
            <a:ext cx="1600000" cy="340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lt1"/>
                </a:solidFill>
              </a:rPr>
              <a:t>DONNÉES &amp; TESTS</a:t>
            </a:r>
            <a:endParaRPr sz="900" b="1"/>
          </a:p>
        </p:txBody>
      </p:sp>
      <p:sp>
        <p:nvSpPr>
          <p:cNvPr id="417" name="Content417"/>
          <p:cNvSpPr txBox="1"/>
          <p:nvPr/>
        </p:nvSpPr>
        <p:spPr>
          <a:xfrm>
            <a:off x="2211700" y="4307475"/>
            <a:ext cx="6620600" cy="5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50"/>
              </a:spcAft>
              <a:buNone/>
            </a:pPr>
            <a:r>
              <a:rPr lang="en" sz="1200" b="1" dirty="0">
                <a:solidFill>
                  <a:schemeClr val="dk1"/>
                </a:solidFill>
              </a:rPr>
              <a:t>PubMedQA, Pandas, pytest</a:t>
            </a:r>
            <a:endParaRPr sz="12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lt2"/>
                </a:solidFill>
              </a:rPr>
              <a:t>20 tests unitaires</a:t>
            </a:r>
            <a:endParaRPr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8"/>
          <p:cNvSpPr txBox="1">
            <a:spLocks noGrp="1"/>
          </p:cNvSpPr>
          <p:nvPr>
            <p:ph type="title"/>
          </p:nvPr>
        </p:nvSpPr>
        <p:spPr>
          <a:xfrm>
            <a:off x="311700" y="2971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Fonctionnalités</a:t>
            </a:r>
            <a:endParaRPr/>
          </a:p>
        </p:txBody>
      </p:sp>
      <p:sp>
        <p:nvSpPr>
          <p:cNvPr id="300" name="FCard300"/>
          <p:cNvSpPr/>
          <p:nvPr/>
        </p:nvSpPr>
        <p:spPr>
          <a:xfrm>
            <a:off x="311700" y="1152475"/>
            <a:ext cx="4110300" cy="1063675"/>
          </a:xfrm>
          <a:prstGeom prst="roundRect">
            <a:avLst>
              <a:gd name="adj" fmla="val 6000"/>
            </a:avLst>
          </a:prstGeom>
          <a:solidFill>
            <a:schemeClr val="dk2"/>
          </a:solidFill>
          <a:ln w="9525">
            <a:solidFill>
              <a:schemeClr val="accent1">
                <a:alpha val="55000"/>
              </a:schemeClr>
            </a:solidFill>
          </a:ln>
          <a:effectLst>
            <a:outerShdw blurRad="35000" dist="18000" dir="5400000" algn="tl" rotWithShape="0">
              <a:srgbClr val="000000">
                <a:alpha val="30000"/>
              </a:srgbClr>
            </a:outerShdw>
          </a:effectLst>
        </p:spPr>
        <p:txBody>
          <a:bodyPr spcFirstLastPara="1" wrap="square" lIns="750000" tIns="150000" rIns="182880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400" b="1">
                <a:solidFill>
                  <a:schemeClr val="dk1"/>
                </a:solidFill>
              </a:rPr>
              <a:t>Analyser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lt2"/>
                </a:solidFill>
              </a:rPr>
              <a:t>Question + contexte → verdict, confiance, distribution, phrase-preuve surlignée</a:t>
            </a:r>
            <a:endParaRPr sz="1050"/>
          </a:p>
        </p:txBody>
      </p:sp>
      <p:sp>
        <p:nvSpPr>
          <p:cNvPr id="301" name="Icon300"/>
          <p:cNvSpPr/>
          <p:nvPr/>
        </p:nvSpPr>
        <p:spPr>
          <a:xfrm>
            <a:off x="461700" y="1302475"/>
            <a:ext cx="480000" cy="48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lt1"/>
                </a:solidFill>
              </a:rPr>
              <a:t>A</a:t>
            </a:r>
            <a:endParaRPr sz="1600" b="1"/>
          </a:p>
        </p:txBody>
      </p:sp>
      <p:sp>
        <p:nvSpPr>
          <p:cNvPr id="302" name="FCard302"/>
          <p:cNvSpPr/>
          <p:nvPr/>
        </p:nvSpPr>
        <p:spPr>
          <a:xfrm>
            <a:off x="4722000" y="1152475"/>
            <a:ext cx="4110300" cy="1063675"/>
          </a:xfrm>
          <a:prstGeom prst="roundRect">
            <a:avLst>
              <a:gd name="adj" fmla="val 6000"/>
            </a:avLst>
          </a:prstGeom>
          <a:solidFill>
            <a:schemeClr val="dk2"/>
          </a:solidFill>
          <a:ln w="9525">
            <a:solidFill>
              <a:schemeClr val="accent5">
                <a:alpha val="55000"/>
              </a:schemeClr>
            </a:solidFill>
          </a:ln>
          <a:effectLst>
            <a:outerShdw blurRad="35000" dist="18000" dir="5400000" algn="tl" rotWithShape="0">
              <a:srgbClr val="000000">
                <a:alpha val="30000"/>
              </a:srgbClr>
            </a:outerShdw>
          </a:effectLst>
        </p:spPr>
        <p:txBody>
          <a:bodyPr spcFirstLastPara="1" wrap="square" lIns="750000" tIns="150000" rIns="182880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400" b="1">
                <a:solidFill>
                  <a:schemeClr val="dk1"/>
                </a:solidFill>
              </a:rPr>
              <a:t>Comparer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lt2"/>
                </a:solidFill>
              </a:rPr>
              <a:t>Deux contextes → verdict de cohérence (accord / contradiction / partiel)</a:t>
            </a:r>
            <a:endParaRPr sz="1050"/>
          </a:p>
        </p:txBody>
      </p:sp>
      <p:sp>
        <p:nvSpPr>
          <p:cNvPr id="303" name="Icon302"/>
          <p:cNvSpPr/>
          <p:nvPr/>
        </p:nvSpPr>
        <p:spPr>
          <a:xfrm>
            <a:off x="4872000" y="1302475"/>
            <a:ext cx="480000" cy="480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lt1"/>
                </a:solidFill>
              </a:rPr>
              <a:t>C</a:t>
            </a:r>
            <a:endParaRPr sz="1600" b="1"/>
          </a:p>
        </p:txBody>
      </p:sp>
      <p:sp>
        <p:nvSpPr>
          <p:cNvPr id="304" name="FCard304"/>
          <p:cNvSpPr/>
          <p:nvPr/>
        </p:nvSpPr>
        <p:spPr>
          <a:xfrm>
            <a:off x="311700" y="2466150"/>
            <a:ext cx="4110300" cy="1063675"/>
          </a:xfrm>
          <a:prstGeom prst="roundRect">
            <a:avLst>
              <a:gd name="adj" fmla="val 6000"/>
            </a:avLst>
          </a:prstGeom>
          <a:solidFill>
            <a:schemeClr val="dk2"/>
          </a:solidFill>
          <a:ln w="9525">
            <a:solidFill>
              <a:schemeClr val="accent4">
                <a:alpha val="55000"/>
              </a:schemeClr>
            </a:solidFill>
          </a:ln>
          <a:effectLst>
            <a:outerShdw blurRad="35000" dist="18000" dir="5400000" algn="tl" rotWithShape="0">
              <a:srgbClr val="000000">
                <a:alpha val="30000"/>
              </a:srgbClr>
            </a:outerShdw>
          </a:effectLst>
        </p:spPr>
        <p:txBody>
          <a:bodyPr spcFirstLastPara="1" wrap="square" lIns="750000" tIns="150000" rIns="182880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400" b="1">
                <a:solidFill>
                  <a:schemeClr val="dk1"/>
                </a:solidFill>
              </a:rPr>
              <a:t>Lot (CSV)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lt2"/>
                </a:solidFill>
              </a:rPr>
              <a:t>Import, analyse jusqu'à 50 lignes, export des résultats</a:t>
            </a:r>
            <a:endParaRPr sz="1050"/>
          </a:p>
        </p:txBody>
      </p:sp>
      <p:sp>
        <p:nvSpPr>
          <p:cNvPr id="305" name="Icon304"/>
          <p:cNvSpPr/>
          <p:nvPr/>
        </p:nvSpPr>
        <p:spPr>
          <a:xfrm>
            <a:off x="461700" y="2616150"/>
            <a:ext cx="480000" cy="480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lt1"/>
                </a:solidFill>
              </a:rPr>
              <a:t>L</a:t>
            </a:r>
            <a:endParaRPr sz="1600" b="1"/>
          </a:p>
        </p:txBody>
      </p:sp>
      <p:sp>
        <p:nvSpPr>
          <p:cNvPr id="306" name="FCard306"/>
          <p:cNvSpPr/>
          <p:nvPr/>
        </p:nvSpPr>
        <p:spPr>
          <a:xfrm>
            <a:off x="4722000" y="2466150"/>
            <a:ext cx="4110300" cy="1063675"/>
          </a:xfrm>
          <a:prstGeom prst="roundRect">
            <a:avLst>
              <a:gd name="adj" fmla="val 6000"/>
            </a:avLst>
          </a:prstGeom>
          <a:solidFill>
            <a:schemeClr val="dk2"/>
          </a:solidFill>
          <a:ln w="9525">
            <a:solidFill>
              <a:schemeClr val="accent3">
                <a:alpha val="55000"/>
              </a:schemeClr>
            </a:solidFill>
          </a:ln>
          <a:effectLst>
            <a:outerShdw blurRad="35000" dist="18000" dir="5400000" algn="tl" rotWithShape="0">
              <a:srgbClr val="000000">
                <a:alpha val="30000"/>
              </a:srgbClr>
            </a:outerShdw>
          </a:effectLst>
        </p:spPr>
        <p:txBody>
          <a:bodyPr spcFirstLastPara="1" wrap="square" lIns="750000" tIns="150000" rIns="182880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400" b="1">
                <a:solidFill>
                  <a:schemeClr val="dk1"/>
                </a:solidFill>
              </a:rPr>
              <a:t>Historique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lt2"/>
                </a:solidFill>
              </a:rPr>
              <a:t>Suivi des analyses de la session en cours</a:t>
            </a:r>
            <a:endParaRPr sz="1050"/>
          </a:p>
        </p:txBody>
      </p:sp>
      <p:sp>
        <p:nvSpPr>
          <p:cNvPr id="307" name="Icon306"/>
          <p:cNvSpPr/>
          <p:nvPr/>
        </p:nvSpPr>
        <p:spPr>
          <a:xfrm>
            <a:off x="4872000" y="2616150"/>
            <a:ext cx="480000" cy="48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lt1"/>
                </a:solidFill>
              </a:rPr>
              <a:t>H</a:t>
            </a:r>
            <a:endParaRPr sz="1600" b="1"/>
          </a:p>
        </p:txBody>
      </p:sp>
      <p:sp>
        <p:nvSpPr>
          <p:cNvPr id="308" name="FCard308"/>
          <p:cNvSpPr/>
          <p:nvPr/>
        </p:nvSpPr>
        <p:spPr>
          <a:xfrm>
            <a:off x="311700" y="3779825"/>
            <a:ext cx="4110300" cy="1063675"/>
          </a:xfrm>
          <a:prstGeom prst="roundRect">
            <a:avLst>
              <a:gd name="adj" fmla="val 6000"/>
            </a:avLst>
          </a:prstGeom>
          <a:solidFill>
            <a:schemeClr val="dk2"/>
          </a:solidFill>
          <a:ln w="9525">
            <a:solidFill>
              <a:schemeClr val="accent6">
                <a:alpha val="55000"/>
              </a:schemeClr>
            </a:solidFill>
          </a:ln>
          <a:effectLst>
            <a:outerShdw blurRad="35000" dist="18000" dir="5400000" algn="tl" rotWithShape="0">
              <a:srgbClr val="000000">
                <a:alpha val="30000"/>
              </a:srgbClr>
            </a:outerShdw>
          </a:effectLst>
        </p:spPr>
        <p:txBody>
          <a:bodyPr spcFirstLastPara="1" wrap="square" lIns="750000" tIns="150000" rIns="182880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400" b="1">
                <a:solidFill>
                  <a:schemeClr val="dk1"/>
                </a:solidFill>
              </a:rPr>
              <a:t>À propos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lt2"/>
                </a:solidFill>
              </a:rPr>
              <a:t>Garde-fous du système expliqués en langage clair</a:t>
            </a:r>
            <a:endParaRPr sz="1050"/>
          </a:p>
        </p:txBody>
      </p:sp>
      <p:sp>
        <p:nvSpPr>
          <p:cNvPr id="309" name="Icon308"/>
          <p:cNvSpPr/>
          <p:nvPr/>
        </p:nvSpPr>
        <p:spPr>
          <a:xfrm>
            <a:off x="461700" y="3929825"/>
            <a:ext cx="480000" cy="48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lt1"/>
                </a:solidFill>
              </a:rPr>
              <a:t>I</a:t>
            </a:r>
            <a:endParaRPr sz="1600" b="1"/>
          </a:p>
        </p:txBody>
      </p:sp>
      <p:sp>
        <p:nvSpPr>
          <p:cNvPr id="310" name="FCard310"/>
          <p:cNvSpPr/>
          <p:nvPr/>
        </p:nvSpPr>
        <p:spPr>
          <a:xfrm>
            <a:off x="4722000" y="3779825"/>
            <a:ext cx="4110300" cy="1063675"/>
          </a:xfrm>
          <a:prstGeom prst="roundRect">
            <a:avLst>
              <a:gd name="adj" fmla="val 6000"/>
            </a:avLst>
          </a:prstGeom>
          <a:solidFill>
            <a:schemeClr val="dk2"/>
          </a:solidFill>
          <a:ln w="9525">
            <a:solidFill>
              <a:schemeClr val="accent1">
                <a:alpha val="55000"/>
              </a:schemeClr>
            </a:solidFill>
          </a:ln>
          <a:effectLst>
            <a:outerShdw blurRad="35000" dist="18000" dir="5400000" algn="tl" rotWithShape="0">
              <a:srgbClr val="000000">
                <a:alpha val="30000"/>
              </a:srgbClr>
            </a:outerShdw>
          </a:effectLst>
        </p:spPr>
        <p:txBody>
          <a:bodyPr spcFirstLastPara="1" wrap="square" lIns="750000" tIns="150000" rIns="182880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 sz="1400" b="1">
                <a:solidFill>
                  <a:schemeClr val="dk1"/>
                </a:solidFill>
              </a:rPr>
              <a:t>Robustesse</a:t>
            </a:r>
            <a:endParaRPr sz="14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lt2"/>
                </a:solidFill>
              </a:rPr>
              <a:t>Abstention si confiance &lt; 0.6, mode démo hors-ligne</a:t>
            </a:r>
            <a:endParaRPr sz="1050"/>
          </a:p>
        </p:txBody>
      </p:sp>
      <p:sp>
        <p:nvSpPr>
          <p:cNvPr id="311" name="Icon310"/>
          <p:cNvSpPr/>
          <p:nvPr/>
        </p:nvSpPr>
        <p:spPr>
          <a:xfrm>
            <a:off x="4872000" y="3929825"/>
            <a:ext cx="480000" cy="48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lt1"/>
                </a:solidFill>
              </a:rPr>
              <a:t>R</a:t>
            </a:r>
            <a:endParaRPr sz="16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8"/>
          <p:cNvSpPr txBox="1">
            <a:spLocks noGrp="1"/>
          </p:cNvSpPr>
          <p:nvPr>
            <p:ph type="title"/>
          </p:nvPr>
        </p:nvSpPr>
        <p:spPr>
          <a:xfrm>
            <a:off x="311700" y="2971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Interface : Analyser &amp; Comparer</a:t>
            </a:r>
            <a:endParaRPr dirty="0"/>
          </a:p>
        </p:txBody>
      </p:sp>
      <p:sp>
        <p:nvSpPr>
          <p:cNvPr id="700" name="Cap700"/>
          <p:cNvSpPr txBox="1"/>
          <p:nvPr/>
        </p:nvSpPr>
        <p:spPr>
          <a:xfrm>
            <a:off x="1635472" y="1000000"/>
            <a:ext cx="1704352" cy="3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 dirty="0">
                <a:solidFill>
                  <a:schemeClr val="accent1"/>
                </a:solidFill>
              </a:rPr>
              <a:t>Analyser : poser une question</a:t>
            </a:r>
            <a:endParaRPr sz="1150" b="1" dirty="0"/>
          </a:p>
        </p:txBody>
      </p:sp>
      <p:pic>
        <p:nvPicPr>
          <p:cNvPr id="701" name="Shot70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95472" y="1420000"/>
            <a:ext cx="1584352" cy="3550000"/>
          </a:xfrm>
          <a:prstGeom prst="roundRect">
            <a:avLst>
              <a:gd name="adj" fmla="val 7000"/>
            </a:avLst>
          </a:prstGeom>
          <a:ln w="19050">
            <a:solidFill>
              <a:schemeClr val="accent1"/>
            </a:solidFill>
          </a:ln>
          <a:effectLst>
            <a:outerShdw blurRad="45000" dist="22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02" name="Cap702"/>
          <p:cNvSpPr txBox="1"/>
          <p:nvPr/>
        </p:nvSpPr>
        <p:spPr>
          <a:xfrm>
            <a:off x="3719824" y="1000000"/>
            <a:ext cx="1704352" cy="3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>
                <a:solidFill>
                  <a:schemeClr val="accent5"/>
                </a:solidFill>
              </a:rPr>
              <a:t>Verdict calibré + preuve citée</a:t>
            </a:r>
            <a:endParaRPr sz="1150" b="1"/>
          </a:p>
        </p:txBody>
      </p:sp>
      <p:pic>
        <p:nvPicPr>
          <p:cNvPr id="703" name="Shot7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9824" y="1420000"/>
            <a:ext cx="1584352" cy="3550000"/>
          </a:xfrm>
          <a:prstGeom prst="roundRect">
            <a:avLst>
              <a:gd name="adj" fmla="val 7000"/>
            </a:avLst>
          </a:prstGeom>
          <a:ln w="19050">
            <a:solidFill>
              <a:schemeClr val="accent5"/>
            </a:solidFill>
          </a:ln>
          <a:effectLst>
            <a:outerShdw blurRad="45000" dist="22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04" name="Cap704"/>
          <p:cNvSpPr txBox="1"/>
          <p:nvPr/>
        </p:nvSpPr>
        <p:spPr>
          <a:xfrm>
            <a:off x="5804176" y="1000000"/>
            <a:ext cx="1704352" cy="3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 dirty="0">
                <a:solidFill>
                  <a:schemeClr val="accent4"/>
                </a:solidFill>
              </a:rPr>
              <a:t>Comparer : détection de contradiction</a:t>
            </a:r>
            <a:endParaRPr sz="1150" b="1" dirty="0"/>
          </a:p>
        </p:txBody>
      </p:sp>
      <p:pic>
        <p:nvPicPr>
          <p:cNvPr id="705" name="Shot7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64176" y="1420000"/>
            <a:ext cx="1584352" cy="3550000"/>
          </a:xfrm>
          <a:prstGeom prst="roundRect">
            <a:avLst>
              <a:gd name="adj" fmla="val 7000"/>
            </a:avLst>
          </a:prstGeom>
          <a:ln w="19050">
            <a:solidFill>
              <a:schemeClr val="accent4"/>
            </a:solidFill>
          </a:ln>
          <a:effectLst>
            <a:outerShdw blurRad="45000" dist="22000" dir="54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8"/>
          <p:cNvSpPr txBox="1">
            <a:spLocks noGrp="1"/>
          </p:cNvSpPr>
          <p:nvPr>
            <p:ph type="title"/>
          </p:nvPr>
        </p:nvSpPr>
        <p:spPr>
          <a:xfrm>
            <a:off x="311700" y="2971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Interface : Robustesse &amp; autres vues</a:t>
            </a:r>
            <a:endParaRPr dirty="0"/>
          </a:p>
        </p:txBody>
      </p:sp>
      <p:sp>
        <p:nvSpPr>
          <p:cNvPr id="700" name="Cap700"/>
          <p:cNvSpPr txBox="1"/>
          <p:nvPr/>
        </p:nvSpPr>
        <p:spPr>
          <a:xfrm>
            <a:off x="1635472" y="1000000"/>
            <a:ext cx="1704352" cy="3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 dirty="0">
                <a:solidFill>
                  <a:schemeClr val="accent4"/>
                </a:solidFill>
              </a:rPr>
              <a:t>Lot (CSV) : analyse en masse</a:t>
            </a:r>
            <a:endParaRPr sz="1150" b="1" dirty="0"/>
          </a:p>
        </p:txBody>
      </p:sp>
      <p:pic>
        <p:nvPicPr>
          <p:cNvPr id="701" name="Shot70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95472" y="1420000"/>
            <a:ext cx="1584352" cy="3550000"/>
          </a:xfrm>
          <a:prstGeom prst="roundRect">
            <a:avLst>
              <a:gd name="adj" fmla="val 7000"/>
            </a:avLst>
          </a:prstGeom>
          <a:ln w="19050">
            <a:solidFill>
              <a:schemeClr val="accent4"/>
            </a:solidFill>
          </a:ln>
          <a:effectLst>
            <a:outerShdw blurRad="45000" dist="22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02" name="Cap702"/>
          <p:cNvSpPr txBox="1"/>
          <p:nvPr/>
        </p:nvSpPr>
        <p:spPr>
          <a:xfrm>
            <a:off x="3719824" y="1000000"/>
            <a:ext cx="1704352" cy="3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>
                <a:solidFill>
                  <a:schemeClr val="accent3"/>
                </a:solidFill>
              </a:rPr>
              <a:t>Historique de session</a:t>
            </a:r>
            <a:endParaRPr sz="1150" b="1"/>
          </a:p>
        </p:txBody>
      </p:sp>
      <p:pic>
        <p:nvPicPr>
          <p:cNvPr id="703" name="Shot7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9824" y="1420000"/>
            <a:ext cx="1584352" cy="3550000"/>
          </a:xfrm>
          <a:prstGeom prst="roundRect">
            <a:avLst>
              <a:gd name="adj" fmla="val 7000"/>
            </a:avLst>
          </a:prstGeom>
          <a:ln w="19050">
            <a:solidFill>
              <a:schemeClr val="accent3"/>
            </a:solidFill>
          </a:ln>
          <a:effectLst>
            <a:outerShdw blurRad="45000" dist="22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04" name="Cap704"/>
          <p:cNvSpPr txBox="1"/>
          <p:nvPr/>
        </p:nvSpPr>
        <p:spPr>
          <a:xfrm>
            <a:off x="5804176" y="1000000"/>
            <a:ext cx="1704352" cy="3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 b="1" dirty="0">
                <a:solidFill>
                  <a:schemeClr val="accent1"/>
                </a:solidFill>
              </a:rPr>
              <a:t>À propos : garde-fous</a:t>
            </a:r>
            <a:endParaRPr sz="1150" b="1" dirty="0"/>
          </a:p>
        </p:txBody>
      </p:sp>
      <p:pic>
        <p:nvPicPr>
          <p:cNvPr id="705" name="Shot7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64176" y="1420000"/>
            <a:ext cx="1584352" cy="3550000"/>
          </a:xfrm>
          <a:prstGeom prst="roundRect">
            <a:avLst>
              <a:gd name="adj" fmla="val 7000"/>
            </a:avLst>
          </a:prstGeom>
          <a:ln w="19050">
            <a:solidFill>
              <a:schemeClr val="accent1"/>
            </a:solidFill>
          </a:ln>
          <a:effectLst>
            <a:outerShdw blurRad="45000" dist="22000" dir="54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9"/>
          <p:cNvSpPr txBox="1">
            <a:spLocks noGrp="1"/>
          </p:cNvSpPr>
          <p:nvPr>
            <p:ph type="title"/>
          </p:nvPr>
        </p:nvSpPr>
        <p:spPr>
          <a:xfrm>
            <a:off x="311700" y="2971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Bilan du projet</a:t>
            </a:r>
            <a:endParaRPr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0" name="Col160"/>
          <p:cNvSpPr/>
          <p:nvPr/>
        </p:nvSpPr>
        <p:spPr>
          <a:xfrm>
            <a:off x="311700" y="1152475"/>
            <a:ext cx="4110300" cy="3550000"/>
          </a:xfrm>
          <a:prstGeom prst="roundRect">
            <a:avLst>
              <a:gd name="adj" fmla="val 4500"/>
            </a:avLst>
          </a:prstGeom>
          <a:solidFill>
            <a:schemeClr val="dk2"/>
          </a:solidFill>
          <a:ln w="9525">
            <a:solidFill>
              <a:schemeClr val="accent1">
                <a:alpha val="55000"/>
              </a:schemeClr>
            </a:solidFill>
          </a:ln>
          <a:effectLst>
            <a:outerShdw blurRad="35000" dist="18000" dir="5400000" algn="tl" rotWithShape="0">
              <a:srgbClr val="000000">
                <a:alpha val="30000"/>
              </a:srgbClr>
            </a:outerShdw>
          </a:effectLst>
        </p:spPr>
        <p:txBody>
          <a:bodyPr spcFirstLastPara="1" wrap="square" lIns="228600" tIns="182880" rIns="228600" bIns="137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" sz="1600" b="1">
                <a:solidFill>
                  <a:schemeClr val="accent1"/>
                </a:solidFill>
              </a:rPr>
              <a:t>Difficultés surmontées</a:t>
            </a:r>
            <a:endParaRPr sz="1600" b="1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>
                <a:solidFill>
                  <a:schemeClr val="lt2"/>
                </a:solidFill>
              </a:rPr>
              <a:t>pqa_artificial quasi dépourvu de la classe « maybe » → réinjection stratifiée d'exemples experts</a:t>
            </a:r>
            <a:endParaRPr sz="1200"/>
          </a:p>
          <a:p>
            <a:pPr marL="285750" lvl="0" indent="-285750" algn="l" rtl="0">
              <a:spcBef>
                <a:spcPts val="700"/>
              </a:spcBef>
              <a:spcAft>
                <a:spcPts val="0"/>
              </a:spcAft>
              <a:buSzPts val="1200"/>
              <a:buChar char="-"/>
            </a:pPr>
            <a:r>
              <a:rPr lang="en" sz="1200">
                <a:solidFill>
                  <a:schemeClr val="lt2"/>
                </a:solidFill>
              </a:rPr>
              <a:t>Sur-confiance native du réseau → calibration par température scaling, mesurée par l'ECE</a:t>
            </a:r>
            <a:endParaRPr sz="1200"/>
          </a:p>
          <a:p>
            <a:pPr marL="285750" lvl="0" indent="-285750" algn="l" rtl="0">
              <a:spcBef>
                <a:spcPts val="700"/>
              </a:spcBef>
              <a:spcAft>
                <a:spcPts val="0"/>
              </a:spcAft>
              <a:buSzPts val="1200"/>
              <a:buChar char="-"/>
            </a:pPr>
            <a:r>
              <a:rPr lang="en" sz="1200">
                <a:solidFill>
                  <a:schemeClr val="lt2"/>
                </a:solidFill>
              </a:rPr>
              <a:t>Empêcher le LLM explicatif de contredire le verdict → contrainte de prompt + contrôle heuristique</a:t>
            </a:r>
            <a:endParaRPr sz="1200"/>
          </a:p>
        </p:txBody>
      </p:sp>
      <p:sp>
        <p:nvSpPr>
          <p:cNvPr id="161" name="Col161"/>
          <p:cNvSpPr/>
          <p:nvPr/>
        </p:nvSpPr>
        <p:spPr>
          <a:xfrm>
            <a:off x="4722000" y="1152475"/>
            <a:ext cx="4110300" cy="3550000"/>
          </a:xfrm>
          <a:prstGeom prst="roundRect">
            <a:avLst>
              <a:gd name="adj" fmla="val 4500"/>
            </a:avLst>
          </a:prstGeom>
          <a:solidFill>
            <a:schemeClr val="dk2"/>
          </a:solidFill>
          <a:ln w="9525">
            <a:solidFill>
              <a:schemeClr val="accent5">
                <a:alpha val="55000"/>
              </a:schemeClr>
            </a:solidFill>
          </a:ln>
          <a:effectLst>
            <a:outerShdw blurRad="35000" dist="18000" dir="5400000" algn="tl" rotWithShape="0">
              <a:srgbClr val="000000">
                <a:alpha val="30000"/>
              </a:srgbClr>
            </a:outerShdw>
          </a:effectLst>
        </p:spPr>
        <p:txBody>
          <a:bodyPr spcFirstLastPara="1" wrap="square" lIns="228600" tIns="182880" rIns="228600" bIns="137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500"/>
              </a:spcAft>
              <a:buNone/>
            </a:pPr>
            <a:r>
              <a:rPr lang="en" sz="1600" b="1" dirty="0">
                <a:solidFill>
                  <a:schemeClr val="accent5"/>
                </a:solidFill>
              </a:rPr>
              <a:t>Prochaines étapes</a:t>
            </a:r>
            <a:endParaRPr sz="1600" b="1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 dirty="0">
                <a:solidFill>
                  <a:schemeClr val="lt2"/>
                </a:solidFill>
              </a:rPr>
              <a:t>Étendre la détection hors périmètre à un jeu de test plus large</a:t>
            </a:r>
            <a:endParaRPr sz="1200" dirty="0"/>
          </a:p>
          <a:p>
            <a:pPr marL="285750" lvl="0" indent="-285750" algn="l" rtl="0">
              <a:spcBef>
                <a:spcPts val="700"/>
              </a:spcBef>
              <a:spcAft>
                <a:spcPts val="0"/>
              </a:spcAft>
              <a:buSzPts val="1200"/>
              <a:buChar char="-"/>
            </a:pPr>
            <a:r>
              <a:rPr lang="en" sz="1200" dirty="0">
                <a:solidFill>
                  <a:schemeClr val="lt2"/>
                </a:solidFill>
              </a:rPr>
              <a:t>Renforcer le contrôle de cohérence verdict/explication au-delà des mots-clés</a:t>
            </a:r>
            <a:endParaRPr sz="1200" dirty="0"/>
          </a:p>
          <a:p>
            <a:pPr marL="285750" lvl="0" indent="-285750" algn="l" rtl="0">
              <a:spcBef>
                <a:spcPts val="700"/>
              </a:spcBef>
              <a:spcAft>
                <a:spcPts val="0"/>
              </a:spcAft>
              <a:buSzPts val="1200"/>
              <a:buChar char="-"/>
            </a:pPr>
            <a:r>
              <a:rPr lang="en" sz="1200" dirty="0">
                <a:solidFill>
                  <a:schemeClr val="lt2"/>
                </a:solidFill>
              </a:rPr>
              <a:t>Lever la limite de 50 lignes en mode batch (CSV)</a:t>
            </a:r>
            <a:endParaRPr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MerciIcon"/>
          <p:cNvSpPr/>
          <p:nvPr/>
        </p:nvSpPr>
        <p:spPr>
          <a:xfrm>
            <a:off x="4272000" y="1150000"/>
            <a:ext cx="600000" cy="60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chemeClr val="lt1"/>
                </a:solidFill>
              </a:rPr>
              <a:t>V</a:t>
            </a:r>
            <a:endParaRPr sz="2000" b="1"/>
          </a:p>
        </p:txBody>
      </p:sp>
      <p:sp>
        <p:nvSpPr>
          <p:cNvPr id="141" name="MerciTitle"/>
          <p:cNvSpPr txBox="1"/>
          <p:nvPr/>
        </p:nvSpPr>
        <p:spPr>
          <a:xfrm>
            <a:off x="0" y="1950000"/>
            <a:ext cx="9144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b="1">
                <a:solidFill>
                  <a:schemeClr val="accent1"/>
                </a:solidFill>
                <a:latin typeface="Oswald"/>
                <a:ea typeface="Oswald"/>
                <a:cs typeface="Oswald"/>
                <a:sym typeface="Oswald"/>
              </a:rPr>
              <a:t>Merci !</a:t>
            </a:r>
            <a:endParaRPr sz="4400" b="1"/>
          </a:p>
        </p:txBody>
      </p:sp>
      <p:sp>
        <p:nvSpPr>
          <p:cNvPr id="143" name="SepLine"/>
          <p:cNvSpPr/>
          <p:nvPr/>
        </p:nvSpPr>
        <p:spPr>
          <a:xfrm>
            <a:off x="3972000" y="3005950"/>
            <a:ext cx="1200000" cy="12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4" name="MerciCaption"/>
          <p:cNvSpPr txBox="1"/>
          <p:nvPr/>
        </p:nvSpPr>
        <p:spPr>
          <a:xfrm>
            <a:off x="52466" y="3235000"/>
            <a:ext cx="9144000" cy="4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dirty="0">
                <a:solidFill>
                  <a:schemeClr val="lt2"/>
                </a:solidFill>
              </a:rPr>
              <a:t>Véra Assistante de lecture biomédicale calibrée</a:t>
            </a:r>
            <a:endParaRPr sz="1300" dirty="0"/>
          </a:p>
        </p:txBody>
      </p:sp>
      <p:sp>
        <p:nvSpPr>
          <p:cNvPr id="145" name="MerciName"/>
          <p:cNvSpPr txBox="1"/>
          <p:nvPr/>
        </p:nvSpPr>
        <p:spPr>
          <a:xfrm>
            <a:off x="0" y="3845000"/>
            <a:ext cx="9144000" cy="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2"/>
                </a:solidFill>
              </a:rPr>
              <a:t>N'Guettia Yao Ezeckiel</a:t>
            </a:r>
            <a:endParaRPr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523</Words>
  <Application>Microsoft Office PowerPoint</Application>
  <PresentationFormat>Affichage à l'écran (16:9)</PresentationFormat>
  <Paragraphs>99</Paragraphs>
  <Slides>9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Arial</vt:lpstr>
      <vt:lpstr>Calibri</vt:lpstr>
      <vt:lpstr>Oswald</vt:lpstr>
      <vt:lpstr>Simple Dark</vt:lpstr>
      <vt:lpstr>Simple Dark</vt:lpstr>
      <vt:lpstr>Présentation PowerPoint</vt:lpstr>
      <vt:lpstr>Véra</vt:lpstr>
      <vt:lpstr>Architecture</vt:lpstr>
      <vt:lpstr>Stack</vt:lpstr>
      <vt:lpstr>Fonctionnalités</vt:lpstr>
      <vt:lpstr>Interface : Analyser &amp; Comparer</vt:lpstr>
      <vt:lpstr>Interface : Robustesse &amp; autres vues</vt:lpstr>
      <vt:lpstr>Bilan du projet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BENIWA MARC ANTOINE NARCISSE ETTIEN</cp:lastModifiedBy>
  <cp:revision>1</cp:revision>
  <dcterms:modified xsi:type="dcterms:W3CDTF">2026-07-26T04:18:54Z</dcterms:modified>
</cp:coreProperties>
</file>